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731520"/>
            <a:ext cx="4114800" cy="4114800"/>
          </a:xfrm>
          <a:prstGeom prst="ellipse">
            <a:avLst/>
          </a:prstGeom>
          <a:solidFill>
            <a:srgbClr val="0071E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463040"/>
            <a:ext cx="2926080" cy="2926080"/>
          </a:xfrm>
          <a:prstGeom prst="ellipse">
            <a:avLst/>
          </a:prstGeom>
          <a:solidFill>
            <a:srgbClr val="0071E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2926080"/>
            <a:ext cx="1645920" cy="1645920"/>
          </a:xfrm>
          <a:prstGeom prst="ellipse">
            <a:avLst/>
          </a:prstGeom>
          <a:solidFill>
            <a:srgbClr val="0071E3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5760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iOS &amp; Apple Platform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1031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Général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594360" y="40690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Apple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80360" y="40690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88036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&amp; SwiftUI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66360" y="40690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40690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45236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&amp; Limites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738360" y="406908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73836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5029200"/>
            <a:ext cx="10972800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 — Niveau débutant à senior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074920"/>
            <a:ext cx="411480" cy="41148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50749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4228"/>
            <a:ext cx="365760" cy="36576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25296" y="17922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iOS 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Marché, salaires, métiers, opportunités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36876"/>
            <a:ext cx="365760" cy="36576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682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25296" y="24048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Apple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25296" y="2624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Plateformes, outils, programme développeur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49524"/>
            <a:ext cx="365760" cy="36576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809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25296" y="3017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&amp; SwiftUI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32369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langage, les frameworks, les bases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62272" y="1755648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1824228"/>
            <a:ext cx="365760" cy="36576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17556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17922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Processus, règles, monétisation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62272" y="2368296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2436876"/>
            <a:ext cx="365760" cy="36576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23682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38928" y="24048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vs Android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38928" y="2624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Comparaison, avantages, limites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62272" y="2980944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3049524"/>
            <a:ext cx="365760" cy="36576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29809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017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Outils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38928" y="32369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Xcode, SPM, CocoaPods, CI/CD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75904" y="1755648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58784" y="1824228"/>
            <a:ext cx="365760" cy="36576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8558784" y="17556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52560" y="17922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52560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sécurité, performance, tests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75904" y="2368296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58784" y="2436876"/>
            <a:ext cx="365760" cy="36576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1" name="Text 39"/>
          <p:cNvSpPr/>
          <p:nvPr/>
        </p:nvSpPr>
        <p:spPr>
          <a:xfrm>
            <a:off x="8558784" y="23682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24048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52560" y="2624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débutant à développeur senior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75904" y="2980944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558784" y="3049524"/>
            <a:ext cx="365760" cy="36576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46" name="Text 44"/>
          <p:cNvSpPr/>
          <p:nvPr/>
        </p:nvSpPr>
        <p:spPr>
          <a:xfrm>
            <a:off x="8558784" y="29809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052560" y="3017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052560" y="32369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Livres, chaînes, blogs, communauté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0071E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iOS 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Marché, salaires, métiers et opportunités professionnelles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IOS · LE MARCHÉ MONDIAL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en chiffres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2103120"/>
            <a:ext cx="621792" cy="621792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2494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Md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iPhones actifs dans le monde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56432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2103120"/>
            <a:ext cx="621792" cy="621792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4942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639312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 App Store / semaine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64224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79208" y="2103120"/>
            <a:ext cx="621792" cy="621792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224942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Md€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547104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développeurs / an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72016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87000" y="2103120"/>
            <a:ext cx="621792" cy="621792"/>
          </a:xfrm>
          <a:prstGeom prst="ellipse">
            <a:avLst/>
          </a:prstGeom>
          <a:solidFill>
            <a:srgbClr val="AF52D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4" y="224942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F5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&gt;27%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9454896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marché mobile mondial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64515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4389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USA concentrent 47% des revenus App Store. L'Europe 23%. Asie 21%. Afrique : marché émergent avec forte croissance.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IOS · OPPORTUNITÉS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Métiers &amp; salaires 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64592" cy="60350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iOS Junior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0" y="189280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34C759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1892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 – 50K €/an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164592" cy="60350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51460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iOS Confirmé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0" y="262432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0071E3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624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– 70K €/an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46120"/>
            <a:ext cx="164592" cy="603504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4612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iOS Senior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78240" y="335584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FF950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3355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– 95K €/an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164592" cy="603504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9776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iOS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78240" y="40873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AF52DE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4087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 – 110K €/an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09160"/>
            <a:ext cx="164592" cy="60350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70916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Architect / Staff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78240" y="481888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FF3B30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4818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– 130K+ €/an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440680"/>
            <a:ext cx="164592" cy="603504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4406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iOS (jour)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778240" y="555040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007AFF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778240" y="5550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400€ – 800€/j €/an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Salaires France 2024 (brut annuel). Source : Talent.io, APEC, Glassdoor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IOS · LE MARCHÉ DU TRAVAIL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les plus recherchées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584448" cy="384048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" y="22402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17627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(indispensable)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660904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5968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Objective-C (legacy)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3081528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0175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(scripts CI)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3502152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43814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(RN hybride)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4256" y="1737360"/>
            <a:ext cx="358444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34256" y="1737360"/>
            <a:ext cx="3584448" cy="38404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173736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35424" y="22402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217627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(priorité)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35424" y="2660904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25968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(interop)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35424" y="3081528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30175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35424" y="3502152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343814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CoreData / SwiftData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19872" y="1737360"/>
            <a:ext cx="358444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19872" y="1737360"/>
            <a:ext cx="3584448" cy="384048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28" name="Text 26"/>
          <p:cNvSpPr/>
          <p:nvPr/>
        </p:nvSpPr>
        <p:spPr>
          <a:xfrm>
            <a:off x="8302752" y="173736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21040" y="22402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217627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2660904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25968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21040" y="3081528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30175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21040" y="3502152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6" name="Text 34"/>
          <p:cNvSpPr/>
          <p:nvPr/>
        </p:nvSpPr>
        <p:spPr>
          <a:xfrm>
            <a:off x="8522208" y="343814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/ DRY / KISS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389120"/>
            <a:ext cx="358444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389120"/>
            <a:ext cx="3584448" cy="384048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3891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49808" y="489204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41" name="Text 39"/>
          <p:cNvSpPr/>
          <p:nvPr/>
        </p:nvSpPr>
        <p:spPr>
          <a:xfrm>
            <a:off x="950976" y="482803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5312664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43" name="Text 41"/>
          <p:cNvSpPr/>
          <p:nvPr/>
        </p:nvSpPr>
        <p:spPr>
          <a:xfrm>
            <a:off x="950976" y="5248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Cloud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" y="5733288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45" name="Text 43"/>
          <p:cNvSpPr/>
          <p:nvPr/>
        </p:nvSpPr>
        <p:spPr>
          <a:xfrm>
            <a:off x="950976" y="56692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9808" y="6153912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47" name="Text 45"/>
          <p:cNvSpPr/>
          <p:nvPr/>
        </p:nvSpPr>
        <p:spPr>
          <a:xfrm>
            <a:off x="950976" y="60899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34256" y="4389120"/>
            <a:ext cx="358444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334256" y="4389120"/>
            <a:ext cx="3584448" cy="3840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50" name="Text 48"/>
          <p:cNvSpPr/>
          <p:nvPr/>
        </p:nvSpPr>
        <p:spPr>
          <a:xfrm>
            <a:off x="4517136" y="43891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4535424" y="4892040"/>
            <a:ext cx="118872" cy="118872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482803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35424" y="5312664"/>
            <a:ext cx="118872" cy="118872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54" name="Text 52"/>
          <p:cNvSpPr/>
          <p:nvPr/>
        </p:nvSpPr>
        <p:spPr>
          <a:xfrm>
            <a:off x="4736592" y="5248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35424" y="5733288"/>
            <a:ext cx="118872" cy="118872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56" name="Text 54"/>
          <p:cNvSpPr/>
          <p:nvPr/>
        </p:nvSpPr>
        <p:spPr>
          <a:xfrm>
            <a:off x="4736592" y="56692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35424" y="6153912"/>
            <a:ext cx="118872" cy="118872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58" name="Text 56"/>
          <p:cNvSpPr/>
          <p:nvPr/>
        </p:nvSpPr>
        <p:spPr>
          <a:xfrm>
            <a:off x="4736592" y="60899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119872" y="4389120"/>
            <a:ext cx="358444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119872" y="4389120"/>
            <a:ext cx="3584448" cy="384048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61" name="Text 59"/>
          <p:cNvSpPr/>
          <p:nvPr/>
        </p:nvSpPr>
        <p:spPr>
          <a:xfrm>
            <a:off x="8302752" y="43891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8321040" y="489204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3" name="Text 61"/>
          <p:cNvSpPr/>
          <p:nvPr/>
        </p:nvSpPr>
        <p:spPr>
          <a:xfrm>
            <a:off x="8522208" y="482803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321040" y="53126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5" name="Text 63"/>
          <p:cNvSpPr/>
          <p:nvPr/>
        </p:nvSpPr>
        <p:spPr>
          <a:xfrm>
            <a:off x="8522208" y="5248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Confluence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21040" y="5733288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7" name="Text 65"/>
          <p:cNvSpPr/>
          <p:nvPr/>
        </p:nvSpPr>
        <p:spPr>
          <a:xfrm>
            <a:off x="8522208" y="56692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321040" y="6153912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9" name="Text 67"/>
          <p:cNvSpPr/>
          <p:nvPr/>
        </p:nvSpPr>
        <p:spPr>
          <a:xfrm>
            <a:off x="8522208" y="60899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Proxy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1D1D1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Écosystème Apple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Plateformes, outils, programme développeur et distribution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APPLE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L'écosystème Apple — Vue d'ensemble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54396" y="2834640"/>
            <a:ext cx="1280160" cy="1280160"/>
          </a:xfrm>
          <a:prstGeom prst="ellipse">
            <a:avLst/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7004" y="3127248"/>
            <a:ext cx="694944" cy="694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4476" y="3474720"/>
            <a:ext cx="-2377440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305556" y="3063240"/>
            <a:ext cx="822960" cy="822960"/>
          </a:xfrm>
          <a:prstGeom prst="ellipse">
            <a:avLst/>
          </a:prstGeom>
          <a:solidFill>
            <a:srgbClr val="0071E3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325526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68396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168396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17+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094476" y="3474720"/>
            <a:ext cx="-1188720" cy="-2058923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4494276" y="1004317"/>
            <a:ext cx="822960" cy="822960"/>
          </a:xfrm>
          <a:prstGeom prst="ellipse">
            <a:avLst/>
          </a:prstGeom>
          <a:solidFill>
            <a:srgbClr val="AF52DE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196341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57116" y="187299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357116" y="214731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iPadOS 17+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94476" y="3474720"/>
            <a:ext cx="1188720" cy="-2058923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6871716" y="1004317"/>
            <a:ext cx="822960" cy="822960"/>
          </a:xfrm>
          <a:prstGeom prst="ellipse">
            <a:avLst/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196341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34556" y="187299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734556" y="214731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Sonoma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094476" y="3474720"/>
            <a:ext cx="2377440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8060436" y="3063240"/>
            <a:ext cx="822960" cy="822960"/>
          </a:xfrm>
          <a:prstGeom prst="ellipse">
            <a:avLst/>
          </a:prstGeom>
          <a:solidFill>
            <a:srgbClr val="FF3B30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325526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23276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7923276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watchOS 10+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094476" y="3474720"/>
            <a:ext cx="1188720" cy="2058923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6871716" y="5122163"/>
            <a:ext cx="822960" cy="822960"/>
          </a:xfrm>
          <a:prstGeom prst="ellipse">
            <a:avLst/>
          </a:prstGeom>
          <a:solidFill>
            <a:srgbClr val="34C759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5314187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34556" y="5990843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6734556" y="6265163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tvOS 17+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6094476" y="3474720"/>
            <a:ext cx="-1188720" cy="2058923"/>
          </a:xfrm>
          <a:prstGeom prst="line">
            <a:avLst/>
          </a:prstGeom>
          <a:noFill/>
          <a:ln w="19050">
            <a:solidFill>
              <a:srgbClr val="D2D2D7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4494276" y="5122163"/>
            <a:ext cx="822960" cy="822960"/>
          </a:xfrm>
          <a:prstGeom prst="ellipse">
            <a:avLst/>
          </a:prstGeom>
          <a:solidFill>
            <a:srgbClr val="FF9500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5314187"/>
            <a:ext cx="438912" cy="43891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357116" y="5990843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357116" y="6265163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 1+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APPLE · ADHÉSION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Developer Program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19072"/>
            <a:ext cx="5577840" cy="45720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Org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2313432"/>
            <a:ext cx="1645920" cy="502920"/>
          </a:xfrm>
          <a:prstGeom prst="roundRect">
            <a:avLst>
              <a:gd name="adj" fmla="val 50909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3134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99 € / an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5351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29077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sur l'App Store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375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bêtas Apple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2160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(10 000 testeurs)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0565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992" y="40599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&amp; certificats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8970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8992" y="44439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Cloud inclus (25h/mois)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7375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8992" y="48280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 &amp; analytics</a:t>
            </a:r>
            <a:endParaRPr lang="en-US" sz="12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57800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78992" y="5212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équipe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64184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78992" y="5596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dev visible sur l'App Store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6355080" y="1719072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6355080" y="1719072"/>
            <a:ext cx="5577840" cy="457200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27" name="Text 17"/>
          <p:cNvSpPr/>
          <p:nvPr/>
        </p:nvSpPr>
        <p:spPr>
          <a:xfrm>
            <a:off x="6583680" y="17190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8321040" y="2313432"/>
            <a:ext cx="1645920" cy="502920"/>
          </a:xfrm>
          <a:prstGeom prst="roundRect">
            <a:avLst>
              <a:gd name="adj" fmla="val 50909"/>
            </a:avLst>
          </a:prstGeom>
          <a:solidFill>
            <a:srgbClr val="AF52DE">
              <a:alpha val="20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8321040" y="23134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299 € / an</a:t>
            </a:r>
            <a:endParaRPr lang="en-US" sz="14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2953512"/>
            <a:ext cx="219456" cy="21945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885432" y="29077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interne uniquement</a:t>
            </a:r>
            <a:endParaRPr lang="en-US" sz="12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3337560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885432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passage par l'App Store</a:t>
            </a:r>
            <a:endParaRPr lang="en-US" sz="12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3721608"/>
            <a:ext cx="219456" cy="219456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885432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pour apps B2B internes</a:t>
            </a:r>
            <a:endParaRPr lang="en-US" sz="12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4105656"/>
            <a:ext cx="219456" cy="219456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885432" y="40599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réseau d'entreprise</a:t>
            </a:r>
            <a:endParaRPr lang="en-US" sz="12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4489704"/>
            <a:ext cx="219456" cy="219456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885432" y="44439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distribution maison</a:t>
            </a:r>
            <a:endParaRPr lang="en-US" sz="12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4873752"/>
            <a:ext cx="219456" cy="219456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885432" y="48280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de publier sur App Store public</a:t>
            </a:r>
            <a:endParaRPr lang="en-US" sz="12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0" y="5257800"/>
            <a:ext cx="219456" cy="219456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885432" y="5212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Apple strict</a:t>
            </a:r>
            <a:endParaRPr lang="en-US" sz="1250" dirty="0"/>
          </a:p>
        </p:txBody>
      </p:sp>
      <p:sp>
        <p:nvSpPr>
          <p:cNvPr id="44" name="Text 27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5" name="Text 28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APPLE · OUTILS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développement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659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51460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officiel Apple. Interface builder, simulateur, débogueur, profiler. Téléchargeable gratuitement sur le Mac App Store.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73736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965960"/>
            <a:ext cx="475488" cy="47548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848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7216" y="19659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iOS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35424" y="251460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Émulateur intégré à Xcode. Test sur iPhone, iPad, Watch, TV sans appareil physique.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73736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965960"/>
            <a:ext cx="475488" cy="475488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0848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19659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Package Manager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251460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dépendances officiel Apple. Intégré dans Xcode. Recommandé pour les nouveaux projets.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77640"/>
            <a:ext cx="475488" cy="475488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965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776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CocoaPods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452628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dépendances communautaire. Compatible avec les bibliothèques anciennes. Fichier Podfile.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4256" y="374904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62856" y="3977640"/>
            <a:ext cx="475488" cy="475488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09651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57216" y="39776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35424" y="452628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build, tests et déploiement. Screenshot automatique, code signing, upload App Store.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9872" y="374904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48472" y="3977640"/>
            <a:ext cx="475488" cy="475488"/>
          </a:xfrm>
          <a:prstGeom prst="ellipse">
            <a:avLst/>
          </a:prstGeom>
          <a:solidFill>
            <a:srgbClr val="AF52D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09651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39776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452628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profiling Apple. Time Profiler, Memory Leaks, Network, GPU. Analyse fine des performances.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FF95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&amp; SwiftUI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langage Apple, ses caractéristiques et ses frameworks modernes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&amp; SWIFTUI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— Présentation du langage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56232"/>
            <a:ext cx="475488" cy="47548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830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1.0 — WWDC. Révolution dans l'écosystème Apple.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551176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026664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7802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2.0 — Open Source. swift.org lancé.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246120"/>
            <a:ext cx="475488" cy="47548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721608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17296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5.0 — ABI stable. Adoption massive.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941064"/>
            <a:ext cx="475488" cy="47548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416552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86791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Concurrency — async/await, actors.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636008"/>
            <a:ext cx="475488" cy="475488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111496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5628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5.9 — Macros. Swift Data. visionOS.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330952"/>
            <a:ext cx="475488" cy="475488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330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88720" y="525780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6.0 — Concurrency stricte, C++ interop.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173736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1984248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03136" y="1984248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022592" y="198424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2249424"/>
            <a:ext cx="480060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Variables &amp; types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Optionnels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=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8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age { print(a)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/ await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async throws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try await fetch(url)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100% sécurisé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Protocol-oriented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Drawable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func draw() 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&amp; SWIFTUI · CARACTÉRISTIQUES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Swift est moderne &amp; sûr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512064" cy="512064"/>
          </a:xfrm>
          <a:prstGeom prst="ellipse">
            <a:avLst/>
          </a:prstGeom>
          <a:solidFill>
            <a:srgbClr val="F5F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66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938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Sûreté de type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487168"/>
            <a:ext cx="3127248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57860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à la compilation. Optionnels pour gérer nil. Pas de pointeurs nus.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4256" y="173736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1938528"/>
            <a:ext cx="512064" cy="512064"/>
          </a:xfrm>
          <a:prstGeom prst="ellipse">
            <a:avLst/>
          </a:prstGeom>
          <a:solidFill>
            <a:srgbClr val="F5F5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0665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938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62856" y="2487168"/>
            <a:ext cx="3127248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35424" y="257860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à C++ pour les benchmarks critiques. AOT compilation.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73736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48472" y="1938528"/>
            <a:ext cx="512064" cy="512064"/>
          </a:xfrm>
          <a:prstGeom prst="ellipse">
            <a:avLst/>
          </a:prstGeom>
          <a:solidFill>
            <a:srgbClr val="F5F5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6654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7696" y="1938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Expressivité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348472" y="2487168"/>
            <a:ext cx="3127248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21040" y="257860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puissantes, generics, pattern matching, computed properties.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3858768"/>
            <a:ext cx="512064" cy="512064"/>
          </a:xfrm>
          <a:prstGeom prst="ellipse">
            <a:avLst/>
          </a:prstGeom>
          <a:solidFill>
            <a:srgbClr val="F5F5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98678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26464" y="3858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moderne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77240" y="4407408"/>
            <a:ext cx="3127248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49808" y="449884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natif, actors pour l'isolation d'état, structured concurrency.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34256" y="365760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62856" y="3858768"/>
            <a:ext cx="512064" cy="512064"/>
          </a:xfrm>
          <a:prstGeom prst="ellipse">
            <a:avLst/>
          </a:prstGeom>
          <a:solidFill>
            <a:srgbClr val="F5F5F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98678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3858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562856" y="4407408"/>
            <a:ext cx="3127248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535424" y="449884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Objective-C, C, C++ (Swift 5.9+). Legacy code réutilisable.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19872" y="3657600"/>
            <a:ext cx="358444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48472" y="3858768"/>
            <a:ext cx="512064" cy="512064"/>
          </a:xfrm>
          <a:prstGeom prst="ellipse">
            <a:avLst/>
          </a:prstGeom>
          <a:solidFill>
            <a:srgbClr val="F5F5F7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98678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97696" y="3858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8348472" y="4407408"/>
            <a:ext cx="3127248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321040" y="4498848"/>
            <a:ext cx="3182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swift.org — contribution communautaire, multiplateforme (Linux, Windows).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&amp; SWIFTUI · FRAMEWORKS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SwiftUI vs UIKit — Quand utiliser quoi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291840" cy="475488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190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0" y="1719072"/>
            <a:ext cx="2834640" cy="475488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719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19072"/>
            <a:ext cx="2834640" cy="475488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719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09760" y="1719072"/>
            <a:ext cx="2240280" cy="475488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7190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2918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194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194560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194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Impératif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2194560"/>
            <a:ext cx="224028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1945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670048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700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minimum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2670048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670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13+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2670048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670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2+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2670048"/>
            <a:ext cx="2240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6700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contexte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145536"/>
            <a:ext cx="32918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4553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d'apprentissage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0" y="3145536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1455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Douce (débutant)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3145536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1455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 (expérience)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9760" y="3145536"/>
            <a:ext cx="224028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31455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si nouveau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621024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62102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UI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40480" y="3621024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36210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(en progrès)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0" y="3621024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6210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(contrôle fin)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09760" y="3621024"/>
            <a:ext cx="2240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362102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pour custom avancé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096512"/>
            <a:ext cx="32918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0965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40480" y="4096512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40965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Canvas temps réel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75120" y="4096512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40965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Build obligatoire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09760" y="4096512"/>
            <a:ext cx="224028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40965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(productivité)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4572000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5720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legacy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840480" y="4572000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0" y="45720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Bridgeable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75120" y="4572000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45720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existante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509760" y="4572000"/>
            <a:ext cx="2240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0" y="45720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5047488"/>
            <a:ext cx="32918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047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840480" y="5047488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0" y="50474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Auto-intégrée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675120" y="5047488"/>
            <a:ext cx="283464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50474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509760" y="5047488"/>
            <a:ext cx="2240280" cy="47548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0" y="50474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48640" y="5522976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5522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/ WatchOS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840480" y="5522976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0" y="55229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Natif SwiftUI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675120" y="5522976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66560" y="55229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supporté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509760" y="5522976"/>
            <a:ext cx="2240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01200" y="5522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obligatoire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34C75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publication, règles Apple, monétisation et distribution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· PUBLICATION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Processus de soumission App Store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53312" y="190195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&amp; Tester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" y="2468880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42032"/>
            <a:ext cx="3182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Xcode, simulateur, tests unitaires/UI. Viser iOS minimum cible. Résoudre les bugs et crashs.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73736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5424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F5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38928" y="190195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Export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35424" y="2468880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542032"/>
            <a:ext cx="3182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Archive dans Xcode. Signature avec Distribution Certificate + Provisioning Profile.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24544" y="190195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321040" y="2468880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542032"/>
            <a:ext cx="3182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via Xcode Organizer. Inviter testeurs internes (100) et externes (10 000). Collecter les feedbacks.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53312" y="400507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9808" y="4572000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645152"/>
            <a:ext cx="3182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métadonnées : description, screenshots (iPhone/iPad/Mac), âge, privacy, prix.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35424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38928" y="400507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Apple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35424" y="4572000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4645152"/>
            <a:ext cx="3182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: 24-48h en général. Revue automatique + humaine. Respect des HIG et règles App Store.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9872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210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24544" y="400507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321040" y="4572000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645152"/>
            <a:ext cx="3182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date. Release manuelle ou automatique après approbation. A/B testing metadata.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· BUSINESS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de monétisation App Store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48640" cy="5486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756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01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payante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54480" y="23134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2313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30%*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2724912"/>
            <a:ext cx="4974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unique à l'installation. Idéal pour outils professionnels de niche. Simple mais téléchargements faibles.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719072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947672"/>
            <a:ext cx="548640" cy="548640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0756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901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IAP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315200" y="23134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34C759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0" y="2313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30%*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65392" y="2724912"/>
            <a:ext cx="4974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gratuite + achats intégrés (fonctionnalités, contenus). Modèle dominant. Exemples : jeux, outils.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370832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599432"/>
            <a:ext cx="548640" cy="548640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7274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553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(Sub)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554480" y="49651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9500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554480" y="4965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15% an 2+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04672" y="5376672"/>
            <a:ext cx="4974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récurrents. Commission réduite à 15% dès la 2ème année. Modèle favori d'Apple. Netflix, Duolingo.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309360" y="4370832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0" y="4599432"/>
            <a:ext cx="548640" cy="548640"/>
          </a:xfrm>
          <a:prstGeom prst="ellipse">
            <a:avLst/>
          </a:prstGeom>
          <a:solidFill>
            <a:srgbClr val="AF52D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47274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0" y="4553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gratuite + Pub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315200" y="49651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AF52DE">
              <a:alpha val="2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315200" y="4965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565392" y="5376672"/>
            <a:ext cx="4974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Monétisation par publicité (AdMob, MoPub). Audience large nécessaire. Vie privée sensible (ATT iOS 14+).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Petits développeurs (&lt;1M$/an) : commission réduite à 15% via le Small Business Program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007A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vs Android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objective, avantages et limites de chaque plateforme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VS ANDROID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vs Android — Tableau comparatif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3236976" cy="448056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19072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58184" y="1719072"/>
            <a:ext cx="3328416" cy="448056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31336" y="1719072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04888" y="1719072"/>
            <a:ext cx="3419856" cy="448056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719072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43032" y="1719072"/>
            <a:ext cx="1591056" cy="448056"/>
          </a:xfrm>
          <a:prstGeom prst="rect">
            <a:avLst/>
          </a:prstGeom>
          <a:solidFill>
            <a:srgbClr val="1D1D1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16184" y="1719072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167128"/>
            <a:ext cx="323697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67128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58184" y="2167128"/>
            <a:ext cx="332841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2167128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Obj-C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04888" y="2167128"/>
            <a:ext cx="341985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167128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Java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43032" y="2167128"/>
            <a:ext cx="15910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16184" y="2167128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615184"/>
            <a:ext cx="323697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15184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officiel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58184" y="2615184"/>
            <a:ext cx="332841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31336" y="2615184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(Mac only)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04888" y="2615184"/>
            <a:ext cx="3419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615184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543032" y="2615184"/>
            <a:ext cx="1591056" cy="448056"/>
          </a:xfrm>
          <a:prstGeom prst="rect">
            <a:avLst/>
          </a:prstGeom>
          <a:solidFill>
            <a:srgbClr val="E8F4F8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16184" y="2615184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063240"/>
            <a:ext cx="323697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063240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58184" y="3063240"/>
            <a:ext cx="332841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31336" y="3063240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Très faible (2-3 versions)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04888" y="3063240"/>
            <a:ext cx="341985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3063240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Très élevée (1000+ devices)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543032" y="3063240"/>
            <a:ext cx="1591056" cy="448056"/>
          </a:xfrm>
          <a:prstGeom prst="rect">
            <a:avLst/>
          </a:prstGeom>
          <a:solidFill>
            <a:srgbClr val="EBF5EB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16184" y="3063240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3511296"/>
            <a:ext cx="323697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511296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marché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758184" y="3511296"/>
            <a:ext cx="332841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31336" y="3511296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~27% mondial / 55% US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104888" y="3511296"/>
            <a:ext cx="3419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511296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mondial / 45% US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0543032" y="3511296"/>
            <a:ext cx="1591056" cy="448056"/>
          </a:xfrm>
          <a:prstGeom prst="rect">
            <a:avLst/>
          </a:prstGeom>
          <a:solidFill>
            <a:srgbClr val="E8F4F8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16184" y="3511296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+1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3959352"/>
            <a:ext cx="323697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3959352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App Store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758184" y="3959352"/>
            <a:ext cx="332841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31336" y="3959352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du marché IAP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104888" y="3959352"/>
            <a:ext cx="341985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3959352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du marché IAP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0543032" y="3959352"/>
            <a:ext cx="1591056" cy="448056"/>
          </a:xfrm>
          <a:prstGeom prst="rect">
            <a:avLst/>
          </a:prstGeom>
          <a:solidFill>
            <a:srgbClr val="EBF5EB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16184" y="3959352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+2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2920" y="4407408"/>
            <a:ext cx="323697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4407408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publication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758184" y="4407408"/>
            <a:ext cx="332841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31336" y="4407408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24-48h (revue Apple)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104888" y="4407408"/>
            <a:ext cx="3419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78040" y="4407408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heures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0543032" y="4407408"/>
            <a:ext cx="1591056" cy="448056"/>
          </a:xfrm>
          <a:prstGeom prst="rect">
            <a:avLst/>
          </a:prstGeom>
          <a:solidFill>
            <a:srgbClr val="E8F4F8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16184" y="4407408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+1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02920" y="4855464"/>
            <a:ext cx="323697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" y="4855464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758184" y="4855464"/>
            <a:ext cx="332841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31336" y="4855464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Sandboxing strict, Secure Enclave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104888" y="4855464"/>
            <a:ext cx="341985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4855464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selon OEM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0543032" y="4855464"/>
            <a:ext cx="1591056" cy="448056"/>
          </a:xfrm>
          <a:prstGeom prst="rect">
            <a:avLst/>
          </a:prstGeom>
          <a:solidFill>
            <a:srgbClr val="EBF5EB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16184" y="4855464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+2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02920" y="5303520"/>
            <a:ext cx="323697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" y="5303520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OS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3758184" y="5303520"/>
            <a:ext cx="332841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31336" y="5303520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rapide (&gt;90% en 1 an)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104888" y="5303520"/>
            <a:ext cx="3419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78040" y="5303520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(fragmentation OEM)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0543032" y="5303520"/>
            <a:ext cx="1591056" cy="448056"/>
          </a:xfrm>
          <a:prstGeom prst="rect">
            <a:avLst/>
          </a:prstGeom>
          <a:solidFill>
            <a:srgbClr val="EBF5EB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616184" y="5303520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+2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02920" y="5751576"/>
            <a:ext cx="323697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6072" y="5751576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développeur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3758184" y="5751576"/>
            <a:ext cx="332841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31336" y="5751576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99€/an (Mac requis)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7104888" y="5751576"/>
            <a:ext cx="3419856" cy="448056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78040" y="5751576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25$ one-time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0543032" y="5751576"/>
            <a:ext cx="1591056" cy="448056"/>
          </a:xfrm>
          <a:prstGeom prst="rect">
            <a:avLst/>
          </a:prstGeom>
          <a:solidFill>
            <a:srgbClr val="E8F4F8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616184" y="5751576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+1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502920" y="6199632"/>
            <a:ext cx="323697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" y="6199632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devices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3758184" y="6199632"/>
            <a:ext cx="332841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31336" y="6199632"/>
            <a:ext cx="3236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excellent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7104888" y="6199632"/>
            <a:ext cx="3419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6199632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Émulateur + réel recommandé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10543032" y="6199632"/>
            <a:ext cx="1591056" cy="448056"/>
          </a:xfrm>
          <a:prstGeom prst="rect">
            <a:avLst/>
          </a:prstGeom>
          <a:solidFill>
            <a:srgbClr val="EBF5EB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616184" y="6199632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+1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VS ANDROID · FORCES &amp; FAIBLESSES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&amp; limites d'iOS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0FBF0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47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Avantages iOS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286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premium — pouvoir d'achat élevé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1576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6700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App Store supérieurs (2x Android)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981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305409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quasi nulle — 2-3 versions iOS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8386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992" y="34381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vie privée — avantage concurrentiel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67912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78992" y="38221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OS rapide (&gt;90% en 1 an)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51960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78992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Apple (Xcode, Instruments) excellents</a:t>
            </a:r>
            <a:endParaRPr lang="en-US" sz="12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636008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78992" y="45902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simplifie les bêta-tests</a:t>
            </a:r>
            <a:endParaRPr lang="en-US" sz="12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020056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78992" y="4974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App Store = signal de qualité</a:t>
            </a:r>
            <a:endParaRPr lang="en-US" sz="12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404104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78992" y="535838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unifié : iPhone, iPad, Mac, Watch</a:t>
            </a:r>
            <a:endParaRPr lang="en-US" sz="1250" dirty="0"/>
          </a:p>
        </p:txBody>
      </p:sp>
      <p:sp>
        <p:nvSpPr>
          <p:cNvPr id="24" name="Shape 13"/>
          <p:cNvSpPr/>
          <p:nvPr/>
        </p:nvSpPr>
        <p:spPr>
          <a:xfrm>
            <a:off x="6217920" y="1719072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5F5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14"/>
          <p:cNvSpPr/>
          <p:nvPr/>
        </p:nvSpPr>
        <p:spPr>
          <a:xfrm>
            <a:off x="6400800" y="1847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iOS</a:t>
            </a:r>
            <a:endParaRPr lang="en-US" sz="14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2331720"/>
            <a:ext cx="219456" cy="21945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748272" y="2286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obligatoire — impossible sur Windows/Linux</a:t>
            </a:r>
            <a:endParaRPr lang="en-US" sz="12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2715768"/>
            <a:ext cx="219456" cy="21945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748272" y="26700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99€/an pour publier sur l'App Store</a:t>
            </a:r>
            <a:endParaRPr lang="en-US" sz="12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3099816"/>
            <a:ext cx="219456" cy="219456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748272" y="305409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Apple : refus possible, délai variable</a:t>
            </a:r>
            <a:endParaRPr lang="en-US" sz="125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3483864"/>
            <a:ext cx="219456" cy="219456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748272" y="34381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strictes — certaines apps refusées</a:t>
            </a:r>
            <a:endParaRPr lang="en-US" sz="125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3867912"/>
            <a:ext cx="219456" cy="219456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748272" y="38221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30% (15% petits développeurs)</a:t>
            </a:r>
            <a:endParaRPr lang="en-US" sz="125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4251960"/>
            <a:ext cx="219456" cy="219456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748272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uniquement sur macOS</a:t>
            </a:r>
            <a:endParaRPr lang="en-US" sz="1250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6520" y="4636008"/>
            <a:ext cx="219456" cy="219456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6748272" y="45902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marché mondiale limitée (~27%)</a:t>
            </a:r>
            <a:endParaRPr lang="en-US" sz="1250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6520" y="5020056"/>
            <a:ext cx="219456" cy="219456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6748272" y="4974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forcent des changements API</a:t>
            </a:r>
            <a:endParaRPr lang="en-US" sz="1250" dirty="0"/>
          </a:p>
        </p:txBody>
      </p:sp>
      <p:sp>
        <p:nvSpPr>
          <p:cNvPr id="42" name="Text 23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3" name="Text 24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AF52D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AF52D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Outils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architecturaux, dépendances, CI/CD et sécurité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OUTILS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architecturaux 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584448" cy="438912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50008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legacy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24942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578608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d'Apple par défaut. Simple mais Massive View Controller fréquent en UIKit.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17373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1737360"/>
            <a:ext cx="3584448" cy="43891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35624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★★★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98848" y="224942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Model-View-ViewModel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98848" y="2578608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SwiftUI. ViewModel expose @Published. Séparation logique métier / UI.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17373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9872" y="1737360"/>
            <a:ext cx="3584448" cy="438912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2124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testable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84464" y="224942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Model-View-Presenter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84464" y="2578608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découplé de l'UI. Bonne testabilité. Moins populaire en Swift.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04488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04488"/>
            <a:ext cx="3584448" cy="43891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50008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★★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441655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Interactor Presenter Entity Router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745736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très découplée. Excellent pour grandes équipes. Verbose.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4256" y="3904488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34256" y="3904488"/>
            <a:ext cx="3584448" cy="43891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0" name="Text 28"/>
          <p:cNvSpPr/>
          <p:nvPr/>
        </p:nvSpPr>
        <p:spPr>
          <a:xfrm>
            <a:off x="4498848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35624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★★★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98848" y="441655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(Uncle Bob)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98848" y="4745736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repositories, entités. Indépendance totale des frameworks.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19872" y="3904488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19872" y="3904488"/>
            <a:ext cx="3584448" cy="438912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36" name="Text 34"/>
          <p:cNvSpPr/>
          <p:nvPr/>
        </p:nvSpPr>
        <p:spPr>
          <a:xfrm>
            <a:off x="8284464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21240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avancé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84464" y="441655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Composable Architecture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84464" y="4745736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Redux-like. State, Actions, Reducers. Point Freeco. Trending 2023-2024.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OUTILS · SÉCURITÉ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iOS — Fondamentaux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56432" y="192024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D1D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9842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938528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" y="2395728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48716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sécurisé des credentials, tokens, mots de passe. Chiffré par l'OS. Persiste après désinstallation.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4256" y="173736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42048" y="192024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D1D1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19842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1938528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35424" y="2395728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35424" y="248716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LocalAuthentication framework. Biométrie native. Ne jamais stocker les données bio vous-même.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73736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027664" y="192024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D1D1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198424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1938528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Transport Security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321040" y="2395728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21040" y="248716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obligatoire par défaut. NSAllowsArbitraryLoads à éviter. Certificat SSL/TLS valide.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456432" y="402336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D1D1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0873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" y="4041648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49808" y="4498848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49808" y="459028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hardware dédiée. Clés cryptographiques isolées du processeur principal. Impossible à extraire.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34256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42048" y="402336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D1D1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4087368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35424" y="4041648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535424" y="4498848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535424" y="459028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fichiers par classe (Complete, WhenUnlocked…). NSFileProtection dans Info.plist.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19872" y="38404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1027664" y="402336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D1D1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1672" y="4087368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21040" y="4041648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Sandbox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8321040" y="4498848"/>
            <a:ext cx="3182112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321040" y="459028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stricte — chaque app dans son conteneur. Accès fichiers, contacts, caméra soumis à permissions.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007A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07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performance, tests et workflow professionnel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· SOLID &amp; CLEAN CODE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Principes de code professionnel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1810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classe/struct n'a qu'une seule raison de changer.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75488" cy="47548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70432" y="26334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 à l'extension, fermé à la modification directe.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75488" cy="47548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70432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0432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sous-type doit être substituable à son parent sans casser l'app.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475488" cy="47548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97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4279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protocoles petits et spécifiques, pas un seul gros protocole fourre-tout.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475488" cy="475488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0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5102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70432" y="5394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Dépendre d'abstractions (protocoles), pas d'implémentations concrètes.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173736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920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principes essentiels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72200" y="2487168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450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6883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3182112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1455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33832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Simple, Stupid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3877056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840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40782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Aren't Gonna Need It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4572000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5354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47731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nommage expressif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72200" y="5266944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5230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54681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43600" y="626364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16161E"/>
          </a:solidFill>
          <a:ln/>
        </p:spPr>
      </p:sp>
      <p:sp>
        <p:nvSpPr>
          <p:cNvPr id="42" name="Text 40"/>
          <p:cNvSpPr/>
          <p:nvPr/>
        </p:nvSpPr>
        <p:spPr>
          <a:xfrm>
            <a:off x="6144768" y="6355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D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Bon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7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Fetchable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func fetch() async throws -&gt; [Item] }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· QUALITÉ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Intégration Continue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46304" cy="77724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922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(XCTest)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fonctions et méthodes isolément. Mocks, stubs. Couverture recommandée &gt; 70%.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51760"/>
            <a:ext cx="146304" cy="77724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066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 (XCUITest)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les interactions utilisateur. Lance l'app réelle. Plus lent mais détecte les régressions UI.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146304" cy="77724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210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l'état visuel d'une vue et compare. Bibliothèques : swift-snapshot-testing.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480560"/>
            <a:ext cx="146304" cy="777240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354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la communication entre modules. API mocking (URLProtocol). Bout en bout.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1737360"/>
            <a:ext cx="4389120" cy="3657600"/>
          </a:xfrm>
          <a:prstGeom prst="roundRect">
            <a:avLst>
              <a:gd name="adj" fmla="val 3000"/>
            </a:avLst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CI/CD populaires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52360" y="2423160"/>
            <a:ext cx="182880" cy="1828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7735824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Cloud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35824" y="26334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Natif Apple, gratuit 25h/mois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2935224"/>
            <a:ext cx="182880" cy="1828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7735824" y="2907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35824" y="31455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éco-système riche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52360" y="3447288"/>
            <a:ext cx="182880" cy="1828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7735824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35824" y="36576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build &amp; deploy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52360" y="3959352"/>
            <a:ext cx="182880" cy="1828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4" y="3931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Bitrise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35824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Orienté mobile, puissant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52360" y="4471416"/>
            <a:ext cx="182880" cy="1828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7735824" y="4443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Codemagic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35824" y="46817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SwiftUI natif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FF95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08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iOS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de débutant à développeur senior — étapes et durées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PROGRESSION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débutant à Senior 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06624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706624" cy="475488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2340864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34C759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40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852928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163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bases (types, fonctions, structs)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3474720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3814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&amp; Simulateur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4096512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5993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premiers écrans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4718304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817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projet : Todo 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56432" y="1737360"/>
            <a:ext cx="2706624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56432" y="1737360"/>
            <a:ext cx="2706624" cy="475488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3621024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96512" y="2340864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0071E3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96512" y="2340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2852928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28163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complet + UIKit bases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0" y="3474720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3913632" y="343814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URLSession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0" y="4096512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3913632" y="405993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@StateObject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0" y="471830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3913632" y="46817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GitHub, PR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0" y="5340096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3913632" y="5303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1 app TestFlight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64224" y="1737360"/>
            <a:ext cx="2706624" cy="4114800"/>
          </a:xfrm>
          <a:prstGeom prst="roundRect">
            <a:avLst>
              <a:gd name="adj" fmla="val 4054"/>
            </a:avLst>
          </a:prstGeom>
          <a:solidFill>
            <a:srgbClr val="1D1D1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64224" y="1737360"/>
            <a:ext cx="2706624" cy="47548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28816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004304" y="2340864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FF9500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004304" y="2340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65392" y="2852928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8" name="Text 36"/>
          <p:cNvSpPr/>
          <p:nvPr/>
        </p:nvSpPr>
        <p:spPr>
          <a:xfrm>
            <a:off x="6821424" y="28163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avancée (Clean, TCA)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65392" y="3474720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0" name="Text 38"/>
          <p:cNvSpPr/>
          <p:nvPr/>
        </p:nvSpPr>
        <p:spPr>
          <a:xfrm>
            <a:off x="6821424" y="343814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/ UI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65392" y="4096512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2" name="Text 40"/>
          <p:cNvSpPr/>
          <p:nvPr/>
        </p:nvSpPr>
        <p:spPr>
          <a:xfrm>
            <a:off x="6821424" y="405993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(Fastlane/GitHub Actions)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65392" y="4718304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4" name="Text 42"/>
          <p:cNvSpPr/>
          <p:nvPr/>
        </p:nvSpPr>
        <p:spPr>
          <a:xfrm>
            <a:off x="6821424" y="46817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Profiling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65392" y="5340096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6" name="Text 44"/>
          <p:cNvSpPr/>
          <p:nvPr/>
        </p:nvSpPr>
        <p:spPr>
          <a:xfrm>
            <a:off x="6821424" y="5303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publiée sur l'App Store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272016" y="1737360"/>
            <a:ext cx="2706624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72016" y="1737360"/>
            <a:ext cx="2706624" cy="475488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49" name="Text 47"/>
          <p:cNvSpPr/>
          <p:nvPr/>
        </p:nvSpPr>
        <p:spPr>
          <a:xfrm>
            <a:off x="9436608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9912096" y="2340864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AF52DE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912096" y="2340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mois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473184" y="2852928"/>
            <a:ext cx="164592" cy="16459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53" name="Text 51"/>
          <p:cNvSpPr/>
          <p:nvPr/>
        </p:nvSpPr>
        <p:spPr>
          <a:xfrm>
            <a:off x="9729216" y="281635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technique &amp; code review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473184" y="3474720"/>
            <a:ext cx="164592" cy="16459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55" name="Text 53"/>
          <p:cNvSpPr/>
          <p:nvPr/>
        </p:nvSpPr>
        <p:spPr>
          <a:xfrm>
            <a:off x="9729216" y="343814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Mentorat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9473184" y="4096512"/>
            <a:ext cx="164592" cy="16459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57" name="Text 55"/>
          <p:cNvSpPr/>
          <p:nvPr/>
        </p:nvSpPr>
        <p:spPr>
          <a:xfrm>
            <a:off x="9729216" y="405993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d'architecture système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473184" y="4718304"/>
            <a:ext cx="164592" cy="16459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59" name="Text 57"/>
          <p:cNvSpPr/>
          <p:nvPr/>
        </p:nvSpPr>
        <p:spPr>
          <a:xfrm>
            <a:off x="9729216" y="46817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avancé (Concurrency, macros)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9473184" y="5340096"/>
            <a:ext cx="164592" cy="16459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61" name="Text 59"/>
          <p:cNvSpPr/>
          <p:nvPr/>
        </p:nvSpPr>
        <p:spPr>
          <a:xfrm>
            <a:off x="9729216" y="5303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3+ apps publiées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PLAN D'APPRENTISSAGE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6 mois → 1 an → 2 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584448" cy="4160520"/>
          </a:xfrm>
          <a:prstGeom prst="roundRect">
            <a:avLst>
              <a:gd name="adj" fmla="val 3061"/>
            </a:avLst>
          </a:prstGeom>
          <a:solidFill>
            <a:srgbClr val="2C2C2E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011680"/>
            <a:ext cx="658368" cy="65836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797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2h/jour · Débutant → Junior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6384" y="3236976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320040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M1-2 : Swift bases + Xcode + SwiftUI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3840480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380390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M3-4 : MVVM + URLSession + CoreData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" y="4443984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440740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M5-6 : 1ère app complète + TestFlight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" y="5047488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5010912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App météo connectée à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4256" y="1755648"/>
            <a:ext cx="3584448" cy="4160520"/>
          </a:xfrm>
          <a:prstGeom prst="roundRect">
            <a:avLst>
              <a:gd name="adj" fmla="val 3061"/>
            </a:avLst>
          </a:prstGeom>
          <a:solidFill>
            <a:srgbClr val="2C2C2E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2011680"/>
            <a:ext cx="658368" cy="6583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579729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17136" y="27797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2h/jour · Junior → Confirmé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3236976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0040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M7-8 : Tests + CI/CD + Fastlane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80390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M9-10 : Architecture avancée + TCA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4439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40740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M11-12 : App Store + analytics + ASO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5047488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5010912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App e-commerce ou SaaS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9872" y="1755648"/>
            <a:ext cx="3584448" cy="4160520"/>
          </a:xfrm>
          <a:prstGeom prst="roundRect">
            <a:avLst>
              <a:gd name="adj" fmla="val 3061"/>
            </a:avLst>
          </a:prstGeom>
          <a:solidFill>
            <a:srgbClr val="2C2C2E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82912" y="2011680"/>
            <a:ext cx="658368" cy="65836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0" name="Text 28"/>
          <p:cNvSpPr/>
          <p:nvPr/>
        </p:nvSpPr>
        <p:spPr>
          <a:xfrm>
            <a:off x="9582912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mois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02752" y="27797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2h/jour · Confirmé → Senior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57616" y="3236976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3" name="Text 31"/>
          <p:cNvSpPr/>
          <p:nvPr/>
        </p:nvSpPr>
        <p:spPr>
          <a:xfrm>
            <a:off x="8631936" y="320040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 M1-6 : Performance + Profiling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57616" y="3840480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5" name="Text 33"/>
          <p:cNvSpPr/>
          <p:nvPr/>
        </p:nvSpPr>
        <p:spPr>
          <a:xfrm>
            <a:off x="8631936" y="380390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 M7-12 : Lead, revues de code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57616" y="4443984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7" name="Text 35"/>
          <p:cNvSpPr/>
          <p:nvPr/>
        </p:nvSpPr>
        <p:spPr>
          <a:xfrm>
            <a:off x="8631936" y="440740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open source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57616" y="5047488"/>
            <a:ext cx="164592" cy="16459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9" name="Text 37"/>
          <p:cNvSpPr/>
          <p:nvPr/>
        </p:nvSpPr>
        <p:spPr>
          <a:xfrm>
            <a:off x="8631936" y="5010912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3 apps publiées + interviews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roundRect">
            <a:avLst>
              <a:gd name="adj" fmla="val 26923"/>
            </a:avLst>
          </a:prstGeom>
          <a:solidFill>
            <a:srgbClr val="0071E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377440"/>
            <a:ext cx="822960" cy="82296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2340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09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essentielles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40965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meilleures plateformes, livres et communautés pour apprendre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ressources pour apprendre 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28016" cy="64008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with Swift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/ Livres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9496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niveaux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Hudson. 100 jours SwiftUI. Gratuit ++. Référence absolue.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128016" cy="64008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Swift.org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niveaux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 du langage. Open source. Évolution du langage.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54680"/>
            <a:ext cx="128016" cy="64008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Docs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9496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Intermédiaire+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0" y="3154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developer.apple.com. Seule source de vérité pour les APIs Apple.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86200"/>
            <a:ext cx="128016" cy="6400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Allen (YouTube)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9496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/ Confirmé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0" y="3886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Tutoriaux Swift &amp; SwiftUI clairs. Conseils carrière iOS. Gratuit.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6177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617720"/>
            <a:ext cx="128016" cy="64008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Kodeco (RayWenderlich)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4617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/ Livres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4960" y="4617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niveaux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132320" y="4617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2104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premium de haute qualité. Abonnement payant. Complet.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349240"/>
            <a:ext cx="128016" cy="64008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" y="5349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SwiftLee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83280" y="5349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9496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Intermédiaire+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132320" y="5349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 van der Lee. Articles techniques pointus. Gratuit. Newsletter.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60807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6080760"/>
            <a:ext cx="128016" cy="640080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" y="6080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CS193P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383280" y="6080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gratuit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394960" y="6080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Débutant+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132320" y="6080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21040" y="6080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SwiftUI Stanford. Gratuit sur YouTube. Le meilleur cours académique.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8122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6812280"/>
            <a:ext cx="128016" cy="64008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55" name="Text 53"/>
          <p:cNvSpPr/>
          <p:nvPr/>
        </p:nvSpPr>
        <p:spPr>
          <a:xfrm>
            <a:off x="786384" y="6812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Donny Wals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83280" y="6812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Livres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394960" y="6812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Confirmé+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132320" y="6812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321040" y="6812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Concurrency, SwiftUI avancé. Articles hebdomadaires. Livres à acheter.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· PIÈGES À ÉVITER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Erreurs fréquentes des débutants 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3584" y="17190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Vouloir tout apprendre avant de coder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9110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79008" y="17190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Coder dès le Jour 1. L'apprentissage par la pratique est 10x plus efficace.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4505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43584" y="24505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du code sans comprendre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64261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79008" y="24505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Toujours comprendre chaque ligne. Refactoriser, tester, expérimenter.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18211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" y="31821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243584" y="3182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optionnels (force unwrap !)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3741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79008" y="31821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Utiliser if let, guard let, ?? par défaut. Le crash est immédiat.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13232" y="39136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43584" y="39136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View Controller / ViewModel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10565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79008" y="391363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Appliquer SOLID. Séparer les responsabilités dès le début.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64515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3232" y="46451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243584" y="4645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Négliger les tests unitaires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83717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79008" y="46451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Écrire les tests pendant le dev, pas après. TDD quand possible.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53766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13232" y="537667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243584" y="53766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lire la documentation Apple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5568696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79008" y="53766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developer.apple.com est LA référence. Stack Overflow en complément.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610819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13232" y="61081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1243584" y="61081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sans beta-tester avec TestFlight</a:t>
            </a:r>
            <a:endParaRPr lang="en-US" sz="13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6300216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779008" y="61081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Minimum 10-20 testeurs réels avant soumission App Store.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548640" y="683971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713232" y="68397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1243584" y="68397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l'accessibilité</a:t>
            </a:r>
            <a:endParaRPr lang="en-US" sz="13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7031736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779008" y="68397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VoiceOver, Dynamic Type dès le début. Requis par Apple HIG.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5029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iOS &amp; Apple · ODC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36599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914400"/>
            <a:ext cx="4572000" cy="4572000"/>
          </a:xfrm>
          <a:prstGeom prst="ellipse">
            <a:avLst/>
          </a:prstGeom>
          <a:solidFill>
            <a:srgbClr val="0071E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645920"/>
            <a:ext cx="3200400" cy="320040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5760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: un investissement qui vaut la peine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94360" y="2715768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8437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premium  —  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154680" y="2606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supérieurs, audience qualifiée, salaires élevés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94360" y="352044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64845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4107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moderne  —  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154680" y="34107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sûr, performant, open-source et en pleine croissance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94360" y="4325112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5312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42153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unifié  —  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154680" y="421538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→ iPad → Mac → Watch → TV → Vision Pro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94360" y="5129784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525780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502005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claire  —  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154680" y="502005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 pour le premier projet, 2 ans pour le niveau senior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94360" y="5943600"/>
            <a:ext cx="10972800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94360" y="6035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time to plant a tree was 20 years ago. The second best time is now."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Général iOS &amp; Apple Platform</dc:title>
  <dc:subject>PptxGenJS Presentation</dc:subject>
  <dc:creator>PptxGenJS</dc:creator>
  <cp:lastModifiedBy>PptxGenJS</cp:lastModifiedBy>
  <cp:revision>1</cp:revision>
  <dcterms:created xsi:type="dcterms:W3CDTF">2026-07-02T05:57:31Z</dcterms:created>
  <dcterms:modified xsi:type="dcterms:W3CDTF">2026-07-02T05:57:31Z</dcterms:modified>
</cp:coreProperties>
</file>