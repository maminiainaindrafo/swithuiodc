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FF790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FF790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FF79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TECHNIQUE - 5 JOURS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SwiftUI et iOS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des applications modernes, rapides et connectées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4754880"/>
            <a:ext cx="4114800" cy="0"/>
          </a:xfrm>
          <a:prstGeom prst="line">
            <a:avLst/>
          </a:prstGeom>
          <a:noFill/>
          <a:ln w="25400">
            <a:solidFill>
              <a:srgbClr val="FF7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937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  •  Parcours développeur iOS  •  Niveau intermédiaire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Vue d'ensemble de la formation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47672"/>
            <a:ext cx="512064" cy="51206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476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211226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Swift &amp; environnement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52160" y="1947672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Xcode, syntaxe Swift, optionnels, closures, POO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3405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98648"/>
            <a:ext cx="512064" cy="51206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986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28254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bases de SwiftUI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2898648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modifiers, Stacks, State &amp; Binding, listes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68503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849624"/>
            <a:ext cx="512064" cy="51206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496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37764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40142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navigation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52160" y="3849624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MVVM, ObservableObject, NavigationStack, formulaires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63600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800600"/>
            <a:ext cx="512064" cy="51206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8006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08760" y="4727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49651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connectées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852160" y="480060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URLSession, async/await, JSON, API REST, Combine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58698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4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751576"/>
            <a:ext cx="512064" cy="51206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7515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508760" y="56784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08760" y="5916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&amp; mise en production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52160" y="5751576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SwiftData/CoreData, notifications, App Store, projet fil rouge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Objectifs pédagogiques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Swift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Acquérir une base solide du langage : types, optionnels, closures, structures.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828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2057400"/>
            <a:ext cx="457200" cy="45720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en SwiftUI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3712" y="30175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des interfaces déclaratives, réactives et réutilisables.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82880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0184" y="2057400"/>
            <a:ext cx="457200" cy="45720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651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une app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0184" y="301752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 pattern MVVM et gérer le flux de données proprement.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33672"/>
            <a:ext cx="457200" cy="45720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828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au réseau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519379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Consommer des API REST avec async/await et décoder du JSON.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4005072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4233672"/>
            <a:ext cx="457200" cy="45720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53712" y="4828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Persister les données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53712" y="519379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localement avec SwiftData/CoreData.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1584" y="4005072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0184" y="4233672"/>
            <a:ext cx="457200" cy="45720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30184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30184" y="4828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une app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30184" y="519379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Préparer, tester et déployer un projet sur l'App Store.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FF790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Fondamentaux Swift &amp; environnement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Poser des bases solides avant d'attaquer SwiftUI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575304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520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de l'écosystème Apple et installation de Xcode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995928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9410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Swift : variables, types, optionnels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416552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61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de contrôle, fonctions et closures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837176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7823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orientée objet : classes, structs, protocoles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5257800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029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pratique : mini-programme en Swift (Playground)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Découvrir Xcode et l'écosystème Apple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: éditeur, simulateur iOS, interface builder, debugger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Playgrounds : tester du code Swift instantanément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d'un projet iOS : App, Assets, Info.plist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Package Manager : gérer ses dépendances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versioning : bonnes pratiques dès le départ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46888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tester sur simulateur ET sur device réel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 mode sombre pour vérifier l'adaptabilité de l'UI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les Canvas de prévisualisation SwiftUI (Cmd+Option+P)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Variables, types et optionnels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Déclaration et typage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: constante (valeur immuable)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: variable (valeur modifiable)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de type automatique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base : Int, Double, String, Bool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Les optionnels (Optional)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Représentent une absence de valeur possible (nil)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Doivent être "dépaquetés" avant utilisation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let / guard let pour un déballage sécurisé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212080" cy="4526280"/>
          </a:xfrm>
          <a:prstGeom prst="roundRect">
            <a:avLst>
              <a:gd name="adj" fmla="val 1212"/>
            </a:avLst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920240"/>
            <a:ext cx="484632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titre: String = "Formation ODC"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annee: Int = 2026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prenom: String? = nil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p = prenom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print("Bonjour \(p)")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print("Aucun prénom défini")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Fonctions, closures et structures de contrôle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closures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 nom(params) -&gt; Type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: blocs de code passés en paramètre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utilisées dans SwiftUI (actions, callbacks)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raccourcie avec trailing closure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flux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else, switch, for-in, while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très puissant avec pattern matching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212080" cy="4526280"/>
          </a:xfrm>
          <a:prstGeom prst="roundRect">
            <a:avLst>
              <a:gd name="adj" fmla="val 1212"/>
            </a:avLst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920240"/>
            <a:ext cx="484632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addition(a: Int, b: Int) -&gt; Int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calcul: (Int, Int) -&gt; Int = { x, y in x * y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nombres = [1, 2, 3, 4, 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carres = nombres.map { $0 * $0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carres where n &gt; 5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Structs, classes et protocoles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valeur, copié à chaque affectation. Privilégié en SwiftUI pour les Views et modèles.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3154680" cy="2606040"/>
          </a:xfrm>
          <a:prstGeom prst="roundRect">
            <a:avLst>
              <a:gd name="adj" fmla="val 2105"/>
            </a:avLst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657600"/>
            <a:ext cx="2788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Utilisateur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nom: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age: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78308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2377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référence, partagé entre variables. Utilisé pour les ViewModels (ObservableObject).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520440"/>
            <a:ext cx="3154680" cy="2606040"/>
          </a:xfrm>
          <a:prstGeom prst="roundRect">
            <a:avLst>
              <a:gd name="adj" fmla="val 2105"/>
            </a:avLst>
          </a:prstGeom>
          <a:solidFill>
            <a:srgbClr val="1E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657600"/>
            <a:ext cx="2788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Compteur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valeur 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 incr()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valeur +=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78308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66760" y="23774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de méthodes/propriétés. Base du polymorphisme en Swift.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66760" y="3520440"/>
            <a:ext cx="3154680" cy="2606040"/>
          </a:xfrm>
          <a:prstGeom prst="roundRect">
            <a:avLst>
              <a:gd name="adj" fmla="val 2105"/>
            </a:avLst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8549640" y="3657600"/>
            <a:ext cx="2788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Identifiable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id: String { get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Atelier pratique - Mini-programme Swift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manipuler les bases du langage dans un Playground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078992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struct Etudiant (nom, age, niveau)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tableau de 5 étudiants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une fonction qui filtre les étudiants majeurs (filter)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leur nom en majuscules avec map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trier le tableau par âge croissant (sorted)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21208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estimée : 30 min   •   Livrable : capture du résultat dans la console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FF790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Les bases de SwiftUI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sa première interface déclarative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575304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520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paradigme déclaratif : comparaison avec UIKit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995928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9410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Modifiers et composition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416552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61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: VStack, HStack, ZStack, Spacer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837176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7823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l'état : @State, @Binding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5257800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029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et boucles dynamiques avec List et ForEach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5678424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623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: écran de profil utilisateur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paradigme déclaratif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 (impératif)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manipule l'UI étape par étape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Storyboards / code, gestion manuelle du cycle de vie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manuelle des vues (reloadData, etc.)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9496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(déclaratif)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décrit ce que l'UI doit afficher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vue se redessine automatiquement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plus concis, prévisualisation en temps réel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219456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51960"/>
            <a:ext cx="10698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ContentView: View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VStack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Text("Bonjour ODC !")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.font(.title)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.foregroundColor(.orange)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.padding()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Views et Modifiers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View est une struct conforme au protocole View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propriété body décrit le contenu affiché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modifiers transforment une vue et renvoient une nouvelle vue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L'ordre des modifiers a un impact sur le rendu final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Modifiers courants : .padding(), .background(), .frame(), .cornerRadius()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Text("Découvrir SwiftUI")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.font(.headline)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.padding()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.background(Color.orange)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.foregroundColor(.white)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.cornerRadius(12)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.shadow(radius: 4)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38912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4572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l'ordre compte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493776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.background() puis .padding() ne donne pas le même résultat que .padding() puis .background(). Toujours vérifier l'aperçu Canvas.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Layout : Stacks et alignement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VStack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Empile les vues verticalement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108960"/>
            <a:ext cx="3154680" cy="2971800"/>
          </a:xfrm>
          <a:prstGeom prst="roundRect">
            <a:avLst>
              <a:gd name="adj" fmla="val 1846"/>
            </a:avLst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246120"/>
            <a:ext cx="27889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VStack(alignment: .leading)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Text("Titre")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Text("Sous-titre")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78308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HStack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2377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 les vues horizontalement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0" y="3108960"/>
            <a:ext cx="3154680" cy="2971800"/>
          </a:xfrm>
          <a:prstGeom prst="roundRect">
            <a:avLst>
              <a:gd name="adj" fmla="val 1846"/>
            </a:avLst>
          </a:prstGeom>
          <a:solidFill>
            <a:srgbClr val="1E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3246120"/>
            <a:ext cx="27889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HStack(spacing: 12)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Image(systemName: "star")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Text("Favoris")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1783080"/>
            <a:ext cx="3611880" cy="4480560"/>
          </a:xfrm>
          <a:prstGeom prst="roundRect">
            <a:avLst>
              <a:gd name="adj" fmla="val 2532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ZStack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66760" y="2377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Superpose les vues en profondeur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66760" y="3108960"/>
            <a:ext cx="3154680" cy="2971800"/>
          </a:xfrm>
          <a:prstGeom prst="roundRect">
            <a:avLst>
              <a:gd name="adj" fmla="val 1846"/>
            </a:avLst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8549640" y="3246120"/>
            <a:ext cx="27889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ZStack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Color.orange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Text("Au dessus")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.foregroundColor(.white)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Gérer l'état : @State et @Binding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vérité locale à une vue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modification redessine automatiquement la vue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 aux types valeurs (Int, String, struct...)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@Binding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vers un @State défini ailleurs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à une sous-vue de modifier l'état du parent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déclare avec le préfixe $ lors du passage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212080" cy="4526280"/>
          </a:xfrm>
          <a:prstGeom prst="roundRect">
            <a:avLst>
              <a:gd name="adj" fmla="val 1212"/>
            </a:avLst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920240"/>
            <a:ext cx="484632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CompteurView: View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@State private var compteur = 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VStack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Text("\(compteur)")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.font(.largeTitle)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Button("+1")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compteur +=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Listes dynamiques avec List &amp; ForEach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affiche une collection de vues de façon performante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permet de boucler sur un tableau de données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Identifiable simplifie l'identification de chaque élément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NavigationLink permet de naviguer vers un détail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212080" cy="4526280"/>
          </a:xfrm>
          <a:prstGeom prst="roundRect">
            <a:avLst>
              <a:gd name="adj" fmla="val 1212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484632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Tache: Identifiable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id = UUID()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titre: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ListeView: View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taches = [Tache(titre: "Apprendre Swift"),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Tache(titre: "Créer une app")]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List(taches) { tache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Text(tache.titre)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Atelier pratique - Écran de profil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construire un écran de profil utilisateur en SwiftUI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078992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une image de profil (Image systemName), un nom et une bio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compteur de "likes" avec un Button (+1) utilisant @State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une liste de 3 centres d'intérêt avec List/ForEach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forme avec VStack, padding, cornerRadius et shadow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2064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estimée : 45 min   •   Livrable : capture d'écran du simulateur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FF790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Architecture &amp; navigation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une application maintenable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575304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520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pattern MVVM appliqué à SwiftUI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995928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9410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ObservableObject, @Published, @StateObject, @EnvironmentObject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416552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61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moderne avec NavigationStack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837176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7823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: Form, TextField, Picker, Toggle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5257800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029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 et états de chargement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5678424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623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: application de gestion de tâches (To-Do)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 pattern MVVM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 les données métier de l'application (structs, enums).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78808" y="22860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7900"/>
                </a:solidFill>
              </a:rPr>
              <a:t>➜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43400" y="182880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F7900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les données et délègue les actions au ViewModel.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22860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7900"/>
                </a:solidFill>
              </a:rPr>
              <a:t>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6676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la logique et expose l'état observable à la View.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11064240" cy="2697480"/>
          </a:xfrm>
          <a:prstGeom prst="roundRect">
            <a:avLst>
              <a:gd name="adj" fmla="val 2034"/>
            </a:avLst>
          </a:prstGeom>
          <a:solidFill>
            <a:srgbClr val="1E1E1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49040"/>
            <a:ext cx="106984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TacheViewModel: ObservableObject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@Published var taches: [String] = []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ajouter(_ titre: String)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taches.append(titre)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TacheView: View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@StateObject var vm = TacheViewModel()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List(vm.taches, id: \.self) { Text($0)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Property wrappers : panorama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wrapper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9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@State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local privé à une vue (valeur)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@Binding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 à un état défini par un parent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@StateObject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 et possède une instance d'un ObservableObject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@ObservedObject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 un ObservableObject créé ailleurs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@EnvironmentObject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Injecte un objet partagé dans toute la hiérarchie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@Published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Notifie les vues qu'une propriété d'un objet a changé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NavigationStack et formulaires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2316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NavigationStack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List(taches) { tache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NavigationLink(tache.titre)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DetailView(tache: tache)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.navigationTitle("Mes tâches")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39496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42316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TextField("Titre", text: $titre)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Toggle("Urgent", isOn: $urgent)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Picker("Priorité", selection: $prio)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Text("Basse").tag(0)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Text("Haute").tag(1)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NavigationStack remplace NavigationView depuis iOS 16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bindings ($) relient automatiquement le Form aux @State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Atelier pratique - Application To-Do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appliquer MVVM sur une vraie mini-application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078992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TacheViewModel (ObservableObject) avec une liste de tâches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principal : liste des tâches + bouton d'ajout (Form en NavigationLink)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de cocher une tâche comme terminée (Toggle ou tap)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de supprimer une tâche (.onDelete)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2064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estimée : 1h   •   Livrable : projet Xcode fonctionnel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FF790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Applications connectées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Consommer une API REST et gérer les données distantes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575304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520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URLSession et le modèle de concurrence async/await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995928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9410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Décoder du JSON avec Codable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416552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61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Appeler une API REST (GET/POST) et gérer les erreurs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837176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7823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un état de chargement (loading / erreur / succès)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5257800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029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à Combine (notions clés)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5678424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623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: application météo / actualités connectée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async/await et URLSession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remplace les closures imbriquées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async peut être suspendue puis reprise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attend le résultat sans bloquer le thread principal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{ } permet de lancer du code asynchrone depuis la View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212080" cy="1737360"/>
          </a:xfrm>
          <a:prstGeom prst="roundRect">
            <a:avLst>
              <a:gd name="adj" fmla="val 3158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fetchUtilisateurs() async throws -&gt; [Utilisateur]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url = URL(string: "https://api.exemple.com/users")!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(data, _) = try await URLSession.shared.data(from: url)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try JSONDecoder().decode([Utilisateur].self, from: data)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3749040"/>
            <a:ext cx="5212080" cy="1645920"/>
          </a:xfrm>
          <a:prstGeom prst="roundRect">
            <a:avLst>
              <a:gd name="adj" fmla="val 3333"/>
            </a:avLst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8862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.task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utilisateurs = try await fetchUtilisateurs()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erreur = error.localizedDescription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Décoder du JSON avec Codable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Codable = Encodable + Decodable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compilateur génère automatiquement le décodage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CodingKeys permet de mapper des clés JSON différentes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JSONDecoder().decode(Type.self, from: data)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212080" cy="2926080"/>
          </a:xfrm>
          <a:prstGeom prst="roundRect">
            <a:avLst>
              <a:gd name="adj" fmla="val 1875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Utilisateur: Codable, Identifiable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id: Int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nom: String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email: String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enum CodingKeys: String, CodingKey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 id, email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 nom = "name"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Gérer les états : chargement, succès, erreur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vue connectée doit toujours gérer 3 états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542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ProgressView() pendant l'appel réseau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23774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542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Succès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des données récupérées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3774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25420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9260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clair + bouton réessayer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64240" cy="2286000"/>
          </a:xfrm>
          <a:prstGeom prst="roundRect">
            <a:avLst>
              <a:gd name="adj" fmla="val 2400"/>
            </a:avLst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605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EtatChargement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enCours, succes([Utilisateur]), echec(String)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etat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.enCours: ProgressView()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.succes(let data): List(data) { Text($0.nom)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.echec(let msg): Text(msg).foregroundColor(.red)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 à Combine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0789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programmation réactive d'Apple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: émet une séquence de valeurs dans le temps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: reçoit et traite les valeurs émises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@Published + ObservableObject utilisent Combine en interne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couvre la majorité des besoins simples ; Combine reste utile pour les flux complexes (debounce, recherche en temps réel...)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617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$texteRecherche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.debounce(for: .seconds(0.5), scheduler: RunLoop.main)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.removeDuplicates()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.sink { valeur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rechercher(valeur)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.store(in: &amp;abonnements)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Atelier pratique - App connectée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consommer une API publique et afficher les résultats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078992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Appeler une API publique (météo, actualités, ou JSONPlaceholder)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Décoder la réponse avec Codable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loading / liste / erreur selon l'état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pull-to-refresh (.refreshable)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2064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estimée : 1h   •   Livrable : app fonctionnelle avec gestion d'erreurs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FF790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Persistance &amp; mise en production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les données et publier son application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575304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520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locale avec SwiftData (et CoreData)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995928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9410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locales et push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416552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361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performance et bonnes pratiques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837176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7823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son app pour l'App Store (icônes, certificats, TestFlight)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5257800"/>
            <a:ext cx="146304" cy="146304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029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fil rouge : présentation et soutenance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Sauvegarder des données avec SwiftData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SwiftData : framework moderne de persistance (iOS 17+)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 transforme une classe en entité persistée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@Query récupère automatiquement les données dans une vue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modelContext.insert() / delete() pour modifier les données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CoreData reste pertinent pour les projets antérieurs à iOS 17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212080" cy="4526280"/>
          </a:xfrm>
          <a:prstGeom prst="roundRect">
            <a:avLst>
              <a:gd name="adj" fmla="val 1212"/>
            </a:avLst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484632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Tache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titre: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terminee: Bool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init(titre: String, terminee: Bool = false)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self.titre = titre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self.terminee = terminee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ListeView: View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 var taches: [Tache]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@Environment(\.modelContext) var contexte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Notifications locales et push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locales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Programmées par l'app (rappel, alarme)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UNUserNotificationCenter pour planifier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d'autorisation obligatoire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539496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Envoyées par un serveur distant (APNs)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un certificat et un device token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informations en temps réel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237744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60520"/>
            <a:ext cx="10698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contenu = UNMutableNotificationContent()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contenu.title = "Formation ODC"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contenu.body = "N'oublie pas l'atelier de demain !"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trigger = UNTimeIntervalNotificationTrigger(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timeInterval: 60, repeats: false)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requete = UNNotificationRequest(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identifier: UUID().uuidString,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content: contenu, trigger: trigger)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UNUserNotificationCenter.current().add(requete)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Préparer son app pour l'App Store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18562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Icônes &amp; assets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185623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toutes les tailles d'icônes, lancer App Icon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0100" y="2377440"/>
            <a:ext cx="0" cy="365760"/>
          </a:xfrm>
          <a:prstGeom prst="line">
            <a:avLst/>
          </a:prstGeom>
          <a:noFill/>
          <a:ln w="19050">
            <a:solidFill>
              <a:srgbClr val="D8D8D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7249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272491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le compte développeur Apple et les profils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" y="3246120"/>
            <a:ext cx="0" cy="365760"/>
          </a:xfrm>
          <a:prstGeom prst="line">
            <a:avLst/>
          </a:prstGeom>
          <a:noFill/>
          <a:ln w="19050">
            <a:solidFill>
              <a:srgbClr val="D8D8D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593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359359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Distribuer une version beta aux testeurs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0100" y="4114800"/>
            <a:ext cx="0" cy="365760"/>
          </a:xfrm>
          <a:prstGeom prst="line">
            <a:avLst/>
          </a:prstGeom>
          <a:noFill/>
          <a:ln w="19050">
            <a:solidFill>
              <a:srgbClr val="D8D8D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44622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Connect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97680" y="446227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 métadonnées, captures, politique de confidentialité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" y="4983480"/>
            <a:ext cx="0" cy="365760"/>
          </a:xfrm>
          <a:prstGeom prst="line">
            <a:avLst/>
          </a:prstGeom>
          <a:noFill/>
          <a:ln w="19050">
            <a:solidFill>
              <a:srgbClr val="D8D8D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440" y="53309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297680" y="5330952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archive et envoi pour revue Apple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F7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86000" y="457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Projet fil rouge &amp; soutenance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 de l'ensemble des notions vues durant la semaine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0789920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Attendus du projet final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0241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SwiftUI structurée en MVVM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un écran connecté à une API (async/await + Codable)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locale des données (SwiftData)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fluide entre au moins 3 écrans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versionné sur Git avec un historique de commits clair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0789920" cy="685800"/>
          </a:xfrm>
          <a:prstGeom prst="roundRect">
            <a:avLst>
              <a:gd name="adj" fmla="val 10667"/>
            </a:avLst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4406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: démo de 10 min + questions/réponses devant le groupe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FF7900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MERCI 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7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pour aller plus loin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28016" cy="128016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officielle  —  </a:t>
            </a:r>
            <a:pPr indent="0" marL="0">
              <a:buNone/>
            </a:pPr>
            <a:r>
              <a:rPr lang="en-US" sz="14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developer.apple.com/documentation/swiftui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28016" cy="128016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80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Swift Playgrounds  —  </a:t>
            </a:r>
            <a:pPr indent="0" marL="0">
              <a:buNone/>
            </a:pPr>
            <a:r>
              <a:rPr lang="en-US" sz="14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swift.org / Swift Playgrounds (app)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28016" cy="128016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83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 with Swift  —  </a:t>
            </a:r>
            <a:pPr indent="0" marL="0">
              <a:buNone/>
            </a:pPr>
            <a:r>
              <a:rPr lang="en-US" sz="14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hackingwithswift.com - tutoriels gratuits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FF790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86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 Sessions  —  </a:t>
            </a:r>
            <a:pPr indent="0" marL="0">
              <a:buNone/>
            </a:pPr>
            <a:r>
              <a:rPr lang="en-US" sz="14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developer.apple.com/videos - conférences Apple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F7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Digital Center — Formation SwiftUI &amp; iOS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SwiftUI et iOS - Formation 5 jours</dc:title>
  <dc:subject>PptxGenJS Presentation</dc:subject>
  <dc:creator>Orange Digital Center</dc:creator>
  <cp:lastModifiedBy>Orange Digital Center</cp:lastModifiedBy>
  <cp:revision>1</cp:revision>
  <dcterms:created xsi:type="dcterms:W3CDTF">2026-06-29T04:24:48Z</dcterms:created>
  <dcterms:modified xsi:type="dcterms:W3CDTF">2026-06-29T04:24:48Z</dcterms:modified>
</cp:coreProperties>
</file>